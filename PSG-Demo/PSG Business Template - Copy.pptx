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9" r:id="rId5"/>
    <p:sldId id="262" r:id="rId6"/>
    <p:sldId id="2140754352" r:id="rId7"/>
    <p:sldId id="263" r:id="rId8"/>
    <p:sldId id="2575" r:id="rId9"/>
    <p:sldId id="2374" r:id="rId10"/>
    <p:sldId id="265" r:id="rId11"/>
    <p:sldId id="214075435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37E"/>
    <a:srgbClr val="345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Kleber" userId="9bd0b555-3c71-4cc7-be64-bc38938291d6" providerId="ADAL" clId="{5D1DB317-B7DE-49A1-8D12-A227F9E238E7}"/>
    <pc:docChg chg="custSel modSld">
      <pc:chgData name="Todd Kleber" userId="9bd0b555-3c71-4cc7-be64-bc38938291d6" providerId="ADAL" clId="{5D1DB317-B7DE-49A1-8D12-A227F9E238E7}" dt="2026-10-20T20:27:32.182" v="7" actId="478"/>
      <pc:docMkLst>
        <pc:docMk/>
      </pc:docMkLst>
      <pc:sldChg chg="delSp mod">
        <pc:chgData name="Todd Kleber" userId="9bd0b555-3c71-4cc7-be64-bc38938291d6" providerId="ADAL" clId="{5D1DB317-B7DE-49A1-8D12-A227F9E238E7}" dt="2026-10-20T20:27:27.443" v="6" actId="478"/>
        <pc:sldMkLst>
          <pc:docMk/>
          <pc:sldMk cId="3768072987" sldId="259"/>
        </pc:sldMkLst>
        <pc:spChg chg="del">
          <ac:chgData name="Todd Kleber" userId="9bd0b555-3c71-4cc7-be64-bc38938291d6" providerId="ADAL" clId="{5D1DB317-B7DE-49A1-8D12-A227F9E238E7}" dt="2026-10-20T20:27:27.443" v="6" actId="478"/>
          <ac:spMkLst>
            <pc:docMk/>
            <pc:sldMk cId="3768072987" sldId="259"/>
            <ac:spMk id="88" creationId="{45087C94-D68A-4828-B981-889E44FD246C}"/>
          </ac:spMkLst>
        </pc:spChg>
      </pc:sldChg>
      <pc:sldChg chg="delSp mod">
        <pc:chgData name="Todd Kleber" userId="9bd0b555-3c71-4cc7-be64-bc38938291d6" providerId="ADAL" clId="{5D1DB317-B7DE-49A1-8D12-A227F9E238E7}" dt="2026-10-20T20:27:32.182" v="7" actId="478"/>
        <pc:sldMkLst>
          <pc:docMk/>
          <pc:sldMk cId="3943799982" sldId="262"/>
        </pc:sldMkLst>
        <pc:spChg chg="del">
          <ac:chgData name="Todd Kleber" userId="9bd0b555-3c71-4cc7-be64-bc38938291d6" providerId="ADAL" clId="{5D1DB317-B7DE-49A1-8D12-A227F9E238E7}" dt="2026-10-20T20:27:32.182" v="7" actId="478"/>
          <ac:spMkLst>
            <pc:docMk/>
            <pc:sldMk cId="3943799982" sldId="262"/>
            <ac:spMk id="3" creationId="{F03CBDF0-7FF8-407F-AADA-0D522A80BC76}"/>
          </ac:spMkLst>
        </pc:spChg>
        <pc:spChg chg="del">
          <ac:chgData name="Todd Kleber" userId="9bd0b555-3c71-4cc7-be64-bc38938291d6" providerId="ADAL" clId="{5D1DB317-B7DE-49A1-8D12-A227F9E238E7}" dt="2026-10-20T20:03:02.474" v="1" actId="478"/>
          <ac:spMkLst>
            <pc:docMk/>
            <pc:sldMk cId="3943799982" sldId="262"/>
            <ac:spMk id="11" creationId="{4E770A8F-9BBA-4F13-A75D-C2C5285597C1}"/>
          </ac:spMkLst>
        </pc:spChg>
      </pc:sldChg>
      <pc:sldChg chg="delSp mod">
        <pc:chgData name="Todd Kleber" userId="9bd0b555-3c71-4cc7-be64-bc38938291d6" providerId="ADAL" clId="{5D1DB317-B7DE-49A1-8D12-A227F9E238E7}" dt="2026-10-20T20:02:59.359" v="0" actId="478"/>
        <pc:sldMkLst>
          <pc:docMk/>
          <pc:sldMk cId="639655373" sldId="263"/>
        </pc:sldMkLst>
        <pc:spChg chg="del">
          <ac:chgData name="Todd Kleber" userId="9bd0b555-3c71-4cc7-be64-bc38938291d6" providerId="ADAL" clId="{5D1DB317-B7DE-49A1-8D12-A227F9E238E7}" dt="2026-10-20T20:02:59.359" v="0" actId="478"/>
          <ac:spMkLst>
            <pc:docMk/>
            <pc:sldMk cId="639655373" sldId="263"/>
            <ac:spMk id="22" creationId="{D8C858AC-CE9F-4763-A089-B9C111587140}"/>
          </ac:spMkLst>
        </pc:spChg>
      </pc:sldChg>
      <pc:sldChg chg="delSp mod">
        <pc:chgData name="Todd Kleber" userId="9bd0b555-3c71-4cc7-be64-bc38938291d6" providerId="ADAL" clId="{5D1DB317-B7DE-49A1-8D12-A227F9E238E7}" dt="2026-10-20T20:03:24.804" v="4" actId="478"/>
        <pc:sldMkLst>
          <pc:docMk/>
          <pc:sldMk cId="4189570605" sldId="265"/>
        </pc:sldMkLst>
        <pc:spChg chg="del">
          <ac:chgData name="Todd Kleber" userId="9bd0b555-3c71-4cc7-be64-bc38938291d6" providerId="ADAL" clId="{5D1DB317-B7DE-49A1-8D12-A227F9E238E7}" dt="2026-10-20T20:03:24.804" v="4" actId="478"/>
          <ac:spMkLst>
            <pc:docMk/>
            <pc:sldMk cId="4189570605" sldId="265"/>
            <ac:spMk id="206" creationId="{0456070B-CF98-45EE-B095-F66DE2243F62}"/>
          </ac:spMkLst>
        </pc:spChg>
      </pc:sldChg>
      <pc:sldChg chg="delSp mod">
        <pc:chgData name="Todd Kleber" userId="9bd0b555-3c71-4cc7-be64-bc38938291d6" providerId="ADAL" clId="{5D1DB317-B7DE-49A1-8D12-A227F9E238E7}" dt="2026-10-20T20:03:17.586" v="3" actId="478"/>
        <pc:sldMkLst>
          <pc:docMk/>
          <pc:sldMk cId="4166569572" sldId="2374"/>
        </pc:sldMkLst>
        <pc:spChg chg="del">
          <ac:chgData name="Todd Kleber" userId="9bd0b555-3c71-4cc7-be64-bc38938291d6" providerId="ADAL" clId="{5D1DB317-B7DE-49A1-8D12-A227F9E238E7}" dt="2026-10-20T20:03:17.586" v="3" actId="478"/>
          <ac:spMkLst>
            <pc:docMk/>
            <pc:sldMk cId="4166569572" sldId="2374"/>
            <ac:spMk id="22" creationId="{421CF338-02E0-45DB-A54D-41F517553D85}"/>
          </ac:spMkLst>
        </pc:spChg>
      </pc:sldChg>
      <pc:sldChg chg="delSp mod">
        <pc:chgData name="Todd Kleber" userId="9bd0b555-3c71-4cc7-be64-bc38938291d6" providerId="ADAL" clId="{5D1DB317-B7DE-49A1-8D12-A227F9E238E7}" dt="2026-10-20T20:03:11.551" v="2" actId="478"/>
        <pc:sldMkLst>
          <pc:docMk/>
          <pc:sldMk cId="1113056801" sldId="2575"/>
        </pc:sldMkLst>
        <pc:spChg chg="del">
          <ac:chgData name="Todd Kleber" userId="9bd0b555-3c71-4cc7-be64-bc38938291d6" providerId="ADAL" clId="{5D1DB317-B7DE-49A1-8D12-A227F9E238E7}" dt="2026-10-20T20:03:11.551" v="2" actId="478"/>
          <ac:spMkLst>
            <pc:docMk/>
            <pc:sldMk cId="1113056801" sldId="2575"/>
            <ac:spMk id="20" creationId="{38247787-4F3C-4122-8CE3-81B462249BFC}"/>
          </ac:spMkLst>
        </pc:spChg>
      </pc:sldChg>
      <pc:sldChg chg="delSp mod">
        <pc:chgData name="Todd Kleber" userId="9bd0b555-3c71-4cc7-be64-bc38938291d6" providerId="ADAL" clId="{5D1DB317-B7DE-49A1-8D12-A227F9E238E7}" dt="2026-10-20T20:03:28.916" v="5" actId="478"/>
        <pc:sldMkLst>
          <pc:docMk/>
          <pc:sldMk cId="1539564963" sldId="2140754351"/>
        </pc:sldMkLst>
        <pc:spChg chg="del">
          <ac:chgData name="Todd Kleber" userId="9bd0b555-3c71-4cc7-be64-bc38938291d6" providerId="ADAL" clId="{5D1DB317-B7DE-49A1-8D12-A227F9E238E7}" dt="2026-10-20T20:03:28.916" v="5" actId="478"/>
          <ac:spMkLst>
            <pc:docMk/>
            <pc:sldMk cId="1539564963" sldId="2140754351"/>
            <ac:spMk id="15" creationId="{19B804CB-38AC-45E3-BCB9-DEC2FD1673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2969F-D5E0-4943-BC06-6E89A00716D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A152E-D7EA-4A8C-A369-467B78A5C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7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E9C480A-8D4F-4333-8149-EB6C6A2451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944249-6968-4E85-B4AE-BF9D5AEFD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530" y="2113626"/>
            <a:ext cx="4114800" cy="1315374"/>
          </a:xfrm>
        </p:spPr>
        <p:txBody>
          <a:bodyPr anchor="ctr">
            <a:normAutofit/>
          </a:bodyPr>
          <a:lstStyle>
            <a:lvl1pPr algn="l">
              <a:defRPr sz="3600" b="1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EA7F2-5B7B-464A-9F9D-CB1F57205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530" y="6007871"/>
            <a:ext cx="2143264" cy="455159"/>
          </a:xfrm>
        </p:spPr>
        <p:txBody>
          <a:bodyPr anchor="ctr">
            <a:normAutofit/>
          </a:bodyPr>
          <a:lstStyle>
            <a:lvl1pPr marL="0" indent="0" algn="l">
              <a:buNone/>
              <a:defRPr sz="1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CD467-9410-42B1-A29B-5A55B895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94F5-1D41-4882-AF38-A75B40F00B3B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5C18-ABA8-4537-B88E-1B8F0401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5AB5-3D0B-472A-8ACD-EDDF06B2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7499" y="6571741"/>
            <a:ext cx="422276" cy="286259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7C3F-E9FA-4448-ADB9-598A1C44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AAF72-36C7-4AAC-9B11-B7EFC3FF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CCBBE-F505-4740-B978-C72BC461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E79C-5D9E-47D9-91F8-52D47CA0BB62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81999-3EAC-4BAC-ACE0-40141CF3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560C4-4261-42F7-BEEE-D61043B3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7230" y="6497910"/>
            <a:ext cx="412338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8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&#10;&#10;Description automatically generated with medium confidence">
            <a:extLst>
              <a:ext uri="{FF2B5EF4-FFF2-40B4-BE49-F238E27FC236}">
                <a16:creationId xmlns:a16="http://schemas.microsoft.com/office/drawing/2014/main" id="{456E3CF3-6BAF-4BFF-8B8C-36D110A230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9CA9D-FEEA-46C1-A166-64D115E2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081339"/>
            <a:ext cx="7550150" cy="862011"/>
          </a:xfrm>
        </p:spPr>
        <p:txBody>
          <a:bodyPr anchor="ctr">
            <a:noAutofit/>
          </a:bodyPr>
          <a:lstStyle>
            <a:lvl1pPr>
              <a:defRPr sz="4000" b="0"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D21F8-02BF-41D4-BF1F-C7DD19D5F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4063889"/>
            <a:ext cx="2523783" cy="507205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98D4E-119E-4A29-8956-FA8B5FCD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B348-1495-4E76-B035-D0342E83E87C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5271E-9B3B-4018-BB1D-2B317816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2AB4D-A299-4AD7-9F71-9ECFD1BA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7230" y="6497910"/>
            <a:ext cx="412338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3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2B6D-2462-4F71-8E6A-A02C9457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B46D-D691-4433-958E-131EB896E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BCB7-7444-4E4F-8B81-F3E649D4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4DAD8-F44E-4C0C-AF40-532EC0C4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93A32-1996-4D79-B005-CBE1A0AD5810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5EF01-CBC4-4F1D-A427-D74C5DEF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67A38-6F22-48A0-99FD-E2FC057B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7230" y="6497910"/>
            <a:ext cx="412338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0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40ED-4323-4246-93EE-E7792E95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E7A9B-9317-452F-AC60-D3B28EBB8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4D328-357A-4D18-B28C-B2C17EBF4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9B29C-14CE-49F6-AF3D-824D55EF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15A1A-EC1A-4154-98A3-3DC872290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5B1C3-2D9A-4794-85E2-1780D06A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1C7B0-72AB-46CF-97F2-48C3F3DFCE0A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06883-502F-4559-B210-822F5A74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B1A4E-158F-4274-B85D-439B85F9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7230" y="6497910"/>
            <a:ext cx="412338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4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75EA-9B2B-4BA1-8118-DDCAA452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57EB6-2A66-4BCC-B37B-3A5A8819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9BF1-32E5-4B60-9235-40AFCA9F0BBA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975EB-5A51-416A-AD31-072D7070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E94D4-1212-4F08-8F49-6AA95130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D099-DAF2-41E3-AD2B-9520DF9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51D-4053-4690-8047-7A09E10D1FFF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95411-AEBF-4B1F-BA82-8EAF393F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75DCA-73C8-4B0F-BB09-1FE75E37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0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8747-CED2-4D29-AAAB-3427B012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7CA66-AF9C-4903-860D-0B3B1A8B6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708BF-1B72-40D4-B32D-289EAED9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24743-0B9C-4612-A74F-E38307E7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712D-658F-4E84-90D4-36DFCFA504B3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63ABF-82F7-4B26-8013-57D067AC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4E836-0B30-4306-B97F-88C3F041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8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5B77-801E-4739-8E9D-DE8155AE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09F55-C435-4B1A-8D44-7ABDC3086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A8304-625C-4B62-A554-912765D4F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9E683-F951-45B9-AA9F-CBE595F6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C6919-3F18-4CFC-92E4-074A8616D219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A555C-F61F-4622-81C0-E8F3CF96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4F7C6-C017-4D07-BB55-3B92B308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9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FC73-00F7-40C6-94DA-EE19B2DC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18B96-CDFF-4A1B-8BC3-82C8F5E50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ACA11-6E99-41C7-A868-6DA78BB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BDD6-A7EE-422A-9DBA-E850D14F638C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92A1-9130-42FC-B532-55EA9478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37F29-BAD8-4AEE-82D2-1131FA31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8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A85C4-447B-45A9-B4FC-29073B477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FEA9-BA79-4C4F-B36D-E979CDB4A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B4D4-A3EE-4313-9E0C-5EB6C1D8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9484-6C77-47AE-A12D-A3FF7BEEA7EC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DD1B-2EE6-4193-B661-7D5A3791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74586-620A-4AAD-88C2-6B3039BB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6613" y="6497910"/>
            <a:ext cx="453572" cy="274324"/>
          </a:xfrm>
        </p:spPr>
        <p:txBody>
          <a:bodyPr/>
          <a:lstStyle/>
          <a:p>
            <a:fld id="{65D3765D-D0B6-4100-962D-18056C19E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8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19333-6109-47E1-8388-132301F5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268" y="0"/>
            <a:ext cx="10956354" cy="708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59DE5-5A91-454D-B7A4-4F4137C7A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1068"/>
            <a:ext cx="10515600" cy="513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8035-948B-4621-8307-4EAF690D0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3694C-6F44-4D8A-8B03-FCF83612D9DE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86DA4-CC9B-4B4D-85D9-6712AAA1E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285" y="6506461"/>
            <a:ext cx="374072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Copyright Prime Solutions Group, Incorporated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673A-EA4A-4E7B-A133-B7E9283BC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973" y="6497910"/>
            <a:ext cx="374853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0253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 descr="A picture containing outdoor object, black, web&#10;&#10;Description automatically generated">
            <a:extLst>
              <a:ext uri="{FF2B5EF4-FFF2-40B4-BE49-F238E27FC236}">
                <a16:creationId xmlns:a16="http://schemas.microsoft.com/office/drawing/2014/main" id="{FFC0C0CF-CF45-4E5D-A99D-1727715E9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7" r="7696" b="23138"/>
          <a:stretch/>
        </p:blipFill>
        <p:spPr>
          <a:xfrm flipH="1">
            <a:off x="0" y="0"/>
            <a:ext cx="3101975" cy="708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F04998-1138-405A-A6E4-8C8842DBBD38}"/>
              </a:ext>
            </a:extLst>
          </p:cNvPr>
          <p:cNvSpPr/>
          <p:nvPr userDrawn="1"/>
        </p:nvSpPr>
        <p:spPr>
          <a:xfrm>
            <a:off x="0" y="711303"/>
            <a:ext cx="12192000" cy="45719"/>
          </a:xfrm>
          <a:prstGeom prst="rect">
            <a:avLst/>
          </a:prstGeom>
          <a:solidFill>
            <a:srgbClr val="0253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5F9121-A99A-4720-90AA-841804DE68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74" y="82411"/>
            <a:ext cx="805921" cy="5404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A0A4C6-C50C-49EC-8DBF-D62AE573329D}"/>
              </a:ext>
            </a:extLst>
          </p:cNvPr>
          <p:cNvSpPr/>
          <p:nvPr userDrawn="1"/>
        </p:nvSpPr>
        <p:spPr>
          <a:xfrm>
            <a:off x="11734800" y="6772593"/>
            <a:ext cx="457200" cy="45719"/>
          </a:xfrm>
          <a:prstGeom prst="rect">
            <a:avLst/>
          </a:prstGeom>
          <a:solidFill>
            <a:srgbClr val="0253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1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86">
            <a:extLst>
              <a:ext uri="{FF2B5EF4-FFF2-40B4-BE49-F238E27FC236}">
                <a16:creationId xmlns:a16="http://schemas.microsoft.com/office/drawing/2014/main" id="{50B3E4A6-0655-4337-8F8C-19E594528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480" y="2156905"/>
            <a:ext cx="4835136" cy="1677448"/>
          </a:xfrm>
        </p:spPr>
        <p:txBody>
          <a:bodyPr anchor="ctr">
            <a:noAutofit/>
          </a:bodyPr>
          <a:lstStyle/>
          <a:p>
            <a:pPr algn="ctr"/>
            <a:r>
              <a:rPr lang="en-US" sz="3200" dirty="0">
                <a:latin typeface="Century Gothic"/>
                <a:cs typeface="Arial"/>
              </a:rPr>
              <a:t>CASCaRA </a:t>
            </a:r>
            <a:br>
              <a:rPr lang="en-US" sz="3200" dirty="0">
                <a:latin typeface="Century Gothic"/>
                <a:cs typeface="Arial"/>
              </a:rPr>
            </a:br>
            <a:r>
              <a:rPr lang="en-US" sz="3200" dirty="0">
                <a:latin typeface="Century Gothic"/>
                <a:cs typeface="Arial"/>
              </a:rPr>
              <a:t>Graph RAG Demo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786F3-9BBA-45E8-B9AB-D528D6F39D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11" y="656028"/>
            <a:ext cx="1570511" cy="105315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6BC48-7DB6-4201-A870-C63D7165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Prime Solutions Group, Incorporated 2023</a:t>
            </a:r>
          </a:p>
        </p:txBody>
      </p:sp>
    </p:spTree>
    <p:extLst>
      <p:ext uri="{BB962C8B-B14F-4D97-AF65-F5344CB8AC3E}">
        <p14:creationId xmlns:p14="http://schemas.microsoft.com/office/powerpoint/2010/main" val="376807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44F9-D97C-4397-A659-FB91E607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75" y="3030538"/>
            <a:ext cx="7667625" cy="104457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253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Introductions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3AA3B4-9DB2-4A58-B04C-3D2E62AE22D8}"/>
              </a:ext>
            </a:extLst>
          </p:cNvPr>
          <p:cNvSpPr/>
          <p:nvPr/>
        </p:nvSpPr>
        <p:spPr>
          <a:xfrm>
            <a:off x="11734800" y="6772593"/>
            <a:ext cx="457200" cy="45719"/>
          </a:xfrm>
          <a:prstGeom prst="rect">
            <a:avLst/>
          </a:prstGeom>
          <a:solidFill>
            <a:srgbClr val="0253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F7A0D-5981-477F-846E-9595F47AB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3" y="113579"/>
            <a:ext cx="886513" cy="59448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D91D-023A-411A-B3EB-C870E999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C4539-6CF0-4D02-A4C1-97EC338F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2</a:t>
            </a:fld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EE8EFF1-1C72-433B-AEC4-6C88B1CA4094}"/>
              </a:ext>
            </a:extLst>
          </p:cNvPr>
          <p:cNvSpPr txBox="1">
            <a:spLocks/>
          </p:cNvSpPr>
          <p:nvPr/>
        </p:nvSpPr>
        <p:spPr>
          <a:xfrm>
            <a:off x="4038600" y="6618932"/>
            <a:ext cx="41148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4379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97D7-E2EA-5B48-122C-41EE54D3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F8DF-8107-5B5F-3953-9725B4C3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Demo’s architecture </a:t>
            </a:r>
          </a:p>
        </p:txBody>
      </p:sp>
      <p:sp>
        <p:nvSpPr>
          <p:cNvPr id="204" name="Footer Placeholder 203">
            <a:extLst>
              <a:ext uri="{FF2B5EF4-FFF2-40B4-BE49-F238E27FC236}">
                <a16:creationId xmlns:a16="http://schemas.microsoft.com/office/drawing/2014/main" id="{D6C558E8-1D02-784A-FC11-2C0C7443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205" name="Slide Number Placeholder 204">
            <a:extLst>
              <a:ext uri="{FF2B5EF4-FFF2-40B4-BE49-F238E27FC236}">
                <a16:creationId xmlns:a16="http://schemas.microsoft.com/office/drawing/2014/main" id="{D8BA7C2D-EBAB-6474-42C2-E50270F7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3</a:t>
            </a:fld>
            <a:endParaRPr lang="en-US" dirty="0"/>
          </a:p>
        </p:txBody>
      </p:sp>
      <p:sp>
        <p:nvSpPr>
          <p:cNvPr id="206" name="Footer Placeholder 2">
            <a:extLst>
              <a:ext uri="{FF2B5EF4-FFF2-40B4-BE49-F238E27FC236}">
                <a16:creationId xmlns:a16="http://schemas.microsoft.com/office/drawing/2014/main" id="{EE3A89BE-EEB0-8967-153F-557D76254223}"/>
              </a:ext>
            </a:extLst>
          </p:cNvPr>
          <p:cNvSpPr txBox="1">
            <a:spLocks/>
          </p:cNvSpPr>
          <p:nvPr/>
        </p:nvSpPr>
        <p:spPr>
          <a:xfrm>
            <a:off x="4038600" y="6618932"/>
            <a:ext cx="41148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Footer Text here</a:t>
            </a:r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A4D84393-ABDD-4889-5B57-61C7D303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1" y="844993"/>
            <a:ext cx="11330846" cy="546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4237-C931-4A57-895F-43DA6A0A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search / graph hop hybrid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62AED-253E-4C77-A778-94C003C6C13B}"/>
              </a:ext>
            </a:extLst>
          </p:cNvPr>
          <p:cNvSpPr/>
          <p:nvPr/>
        </p:nvSpPr>
        <p:spPr>
          <a:xfrm>
            <a:off x="0" y="1162731"/>
            <a:ext cx="2990850" cy="5320145"/>
          </a:xfrm>
          <a:prstGeom prst="rect">
            <a:avLst/>
          </a:prstGeom>
          <a:solidFill>
            <a:srgbClr val="004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078950-B873-43E3-B811-44015CAEBE5A}"/>
              </a:ext>
            </a:extLst>
          </p:cNvPr>
          <p:cNvGrpSpPr/>
          <p:nvPr/>
        </p:nvGrpSpPr>
        <p:grpSpPr>
          <a:xfrm>
            <a:off x="6502239" y="1579308"/>
            <a:ext cx="4651578" cy="730916"/>
            <a:chOff x="952500" y="2512049"/>
            <a:chExt cx="4066990" cy="7309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50FE28-B3BF-40C3-9F5A-CF2206A164C5}"/>
                </a:ext>
              </a:extLst>
            </p:cNvPr>
            <p:cNvSpPr txBox="1"/>
            <p:nvPr/>
          </p:nvSpPr>
          <p:spPr>
            <a:xfrm flipH="1">
              <a:off x="952500" y="2781300"/>
              <a:ext cx="4066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 kern="0" dirty="0">
                  <a:solidFill>
                    <a:srgbClr val="2C2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sz="1200" kern="0" dirty="0" err="1">
                  <a:solidFill>
                    <a:srgbClr val="2C2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</a:t>
              </a:r>
              <a:r>
                <a:rPr lang="en-US" sz="1200" kern="0" dirty="0">
                  <a:solidFill>
                    <a:srgbClr val="2C2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0.6 embedding embeds the entire graph to the 1024 dimension.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292F1E-ED47-456C-93EE-E73A6241E9F7}"/>
                </a:ext>
              </a:extLst>
            </p:cNvPr>
            <p:cNvSpPr txBox="1"/>
            <p:nvPr/>
          </p:nvSpPr>
          <p:spPr>
            <a:xfrm>
              <a:off x="952500" y="2512049"/>
              <a:ext cx="2970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Embedding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C7F1A4-D1E3-4800-ACD6-36BF59570F3E}"/>
              </a:ext>
            </a:extLst>
          </p:cNvPr>
          <p:cNvGrpSpPr/>
          <p:nvPr/>
        </p:nvGrpSpPr>
        <p:grpSpPr>
          <a:xfrm>
            <a:off x="6502239" y="3422176"/>
            <a:ext cx="4651578" cy="730916"/>
            <a:chOff x="952500" y="2512049"/>
            <a:chExt cx="4066990" cy="7309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C685CA-744D-4931-ACFA-4981AE5432AF}"/>
                </a:ext>
              </a:extLst>
            </p:cNvPr>
            <p:cNvSpPr txBox="1"/>
            <p:nvPr/>
          </p:nvSpPr>
          <p:spPr>
            <a:xfrm flipH="1">
              <a:off x="952500" y="2781300"/>
              <a:ext cx="4066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 kern="0" dirty="0">
                  <a:solidFill>
                    <a:srgbClr val="2C2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program will than take that question and embed it and use a mathematical similarity search to find the top 5 seed nodes.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0770E1-BB40-42D2-80EE-8E32848406A9}"/>
                </a:ext>
              </a:extLst>
            </p:cNvPr>
            <p:cNvSpPr txBox="1"/>
            <p:nvPr/>
          </p:nvSpPr>
          <p:spPr>
            <a:xfrm>
              <a:off x="952500" y="2512049"/>
              <a:ext cx="2970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Vector search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88CA67-34B9-404E-8BBA-1857FD62D996}"/>
              </a:ext>
            </a:extLst>
          </p:cNvPr>
          <p:cNvGrpSpPr/>
          <p:nvPr/>
        </p:nvGrpSpPr>
        <p:grpSpPr>
          <a:xfrm>
            <a:off x="5844322" y="1592933"/>
            <a:ext cx="154129" cy="4459740"/>
            <a:chOff x="5631762" y="1497683"/>
            <a:chExt cx="154129" cy="445974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7A1803-9A6E-4506-92DD-4667DC4177D2}"/>
                </a:ext>
              </a:extLst>
            </p:cNvPr>
            <p:cNvCxnSpPr>
              <a:cxnSpLocks/>
            </p:cNvCxnSpPr>
            <p:nvPr/>
          </p:nvCxnSpPr>
          <p:spPr>
            <a:xfrm>
              <a:off x="5708826" y="1497683"/>
              <a:ext cx="0" cy="445974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12CF9F-5027-40BC-A615-AAEBD5CA3379}"/>
                </a:ext>
              </a:extLst>
            </p:cNvPr>
            <p:cNvSpPr/>
            <p:nvPr/>
          </p:nvSpPr>
          <p:spPr>
            <a:xfrm>
              <a:off x="5631762" y="1772452"/>
              <a:ext cx="154129" cy="1541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E395CF-83DA-4881-B75E-94871F3B210F}"/>
                </a:ext>
              </a:extLst>
            </p:cNvPr>
            <p:cNvSpPr/>
            <p:nvPr/>
          </p:nvSpPr>
          <p:spPr>
            <a:xfrm>
              <a:off x="5631762" y="3615320"/>
              <a:ext cx="154129" cy="1541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5DFE6E-3CA8-40D7-A51A-786CDA9EE7E1}"/>
                </a:ext>
              </a:extLst>
            </p:cNvPr>
            <p:cNvSpPr/>
            <p:nvPr/>
          </p:nvSpPr>
          <p:spPr>
            <a:xfrm>
              <a:off x="5631762" y="5528526"/>
              <a:ext cx="154129" cy="1541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37C952-B0D8-45C3-BFD3-24FD8F931BE7}"/>
              </a:ext>
            </a:extLst>
          </p:cNvPr>
          <p:cNvGrpSpPr/>
          <p:nvPr/>
        </p:nvGrpSpPr>
        <p:grpSpPr>
          <a:xfrm>
            <a:off x="6502239" y="5335382"/>
            <a:ext cx="4651578" cy="915582"/>
            <a:chOff x="952500" y="2512049"/>
            <a:chExt cx="4066990" cy="91558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D2C7EA-2930-4461-B19D-348A5DE63736}"/>
                </a:ext>
              </a:extLst>
            </p:cNvPr>
            <p:cNvSpPr txBox="1"/>
            <p:nvPr/>
          </p:nvSpPr>
          <p:spPr>
            <a:xfrm flipH="1">
              <a:off x="952500" y="2781300"/>
              <a:ext cx="40669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 kern="0" dirty="0">
                  <a:solidFill>
                    <a:srgbClr val="2C2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program now does graph depth search grabbing nodes and having no duplicates and scores them based on  Semantic, GDS, and distance.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9AFFEA-D9D7-41AC-A50E-102435447A81}"/>
                </a:ext>
              </a:extLst>
            </p:cNvPr>
            <p:cNvSpPr txBox="1"/>
            <p:nvPr/>
          </p:nvSpPr>
          <p:spPr>
            <a:xfrm>
              <a:off x="952500" y="2512049"/>
              <a:ext cx="2970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>
                  <a:solidFill>
                    <a:schemeClr val="accent2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Graph hop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C9A1F21-2429-4ED2-9915-527635CC14D9}"/>
              </a:ext>
            </a:extLst>
          </p:cNvPr>
          <p:cNvSpPr/>
          <p:nvPr/>
        </p:nvSpPr>
        <p:spPr>
          <a:xfrm>
            <a:off x="674366" y="1566357"/>
            <a:ext cx="4567664" cy="4512892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DEE6203C-7CBE-4B82-B204-7311F596B1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4" t="2162" r="21974" b="1808"/>
          <a:stretch/>
        </p:blipFill>
        <p:spPr>
          <a:xfrm>
            <a:off x="674365" y="1582297"/>
            <a:ext cx="4567664" cy="4512892"/>
          </a:xfrm>
          <a:prstGeom prst="rect">
            <a:avLst/>
          </a:prstGeom>
        </p:spPr>
      </p:pic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BABF03D-3337-41E5-AACF-D5D43ADF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27E5CDF-C8BE-47F4-8702-0E5746FF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5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C220-1CC8-4113-84E9-ACBBF4B1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Scoring evidence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9A29B8-8EC3-4F8C-8087-AD502E71D9DC}"/>
              </a:ext>
            </a:extLst>
          </p:cNvPr>
          <p:cNvGrpSpPr/>
          <p:nvPr/>
        </p:nvGrpSpPr>
        <p:grpSpPr>
          <a:xfrm>
            <a:off x="816461" y="2167179"/>
            <a:ext cx="10559079" cy="2861086"/>
            <a:chOff x="816461" y="2110907"/>
            <a:chExt cx="10559079" cy="28610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FA9563-DAD2-4A45-A218-43C1ABFD1CD8}"/>
                </a:ext>
              </a:extLst>
            </p:cNvPr>
            <p:cNvSpPr txBox="1"/>
            <p:nvPr/>
          </p:nvSpPr>
          <p:spPr>
            <a:xfrm>
              <a:off x="4895527" y="2110907"/>
              <a:ext cx="2031326" cy="144655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8800" dirty="0">
                  <a:solidFill>
                    <a:schemeClr val="accent2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25</a:t>
              </a:r>
              <a:r>
                <a:rPr lang="en-US" sz="6000" dirty="0">
                  <a:solidFill>
                    <a:schemeClr val="accent2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%</a:t>
              </a:r>
              <a:endParaRPr lang="en-US" sz="8800" dirty="0">
                <a:solidFill>
                  <a:schemeClr val="accent2"/>
                </a:solidFill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8AB467-C32F-44AF-B310-B4DBAD49AE82}"/>
                </a:ext>
              </a:extLst>
            </p:cNvPr>
            <p:cNvSpPr/>
            <p:nvPr/>
          </p:nvSpPr>
          <p:spPr>
            <a:xfrm>
              <a:off x="4844232" y="3557457"/>
              <a:ext cx="2235484" cy="23461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F72A5F-5A44-4BFD-9452-FF72B14BE309}"/>
                </a:ext>
              </a:extLst>
            </p:cNvPr>
            <p:cNvSpPr txBox="1"/>
            <p:nvPr/>
          </p:nvSpPr>
          <p:spPr>
            <a:xfrm>
              <a:off x="5689110" y="3802441"/>
              <a:ext cx="684803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GDS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306804-C7A5-4D04-9F42-CB46B270A125}"/>
                </a:ext>
              </a:extLst>
            </p:cNvPr>
            <p:cNvSpPr/>
            <p:nvPr/>
          </p:nvSpPr>
          <p:spPr>
            <a:xfrm>
              <a:off x="4844232" y="4233329"/>
              <a:ext cx="2503538" cy="73866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raph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Science scores it by the relationships and pathing to the node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9DA67-82D7-4BCF-B38A-FAB16A985C6A}"/>
                </a:ext>
              </a:extLst>
            </p:cNvPr>
            <p:cNvSpPr txBox="1"/>
            <p:nvPr/>
          </p:nvSpPr>
          <p:spPr>
            <a:xfrm>
              <a:off x="904625" y="2110907"/>
              <a:ext cx="2031326" cy="144655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8800" dirty="0">
                  <a:solidFill>
                    <a:schemeClr val="accent1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65</a:t>
              </a:r>
              <a:r>
                <a:rPr lang="en-US" sz="6000" dirty="0">
                  <a:solidFill>
                    <a:schemeClr val="accent1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%</a:t>
              </a:r>
              <a:endParaRPr lang="en-US" sz="8800" dirty="0">
                <a:solidFill>
                  <a:schemeClr val="accent1"/>
                </a:solidFill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5A141F-F995-426B-A21B-5DC66B1660F4}"/>
                </a:ext>
              </a:extLst>
            </p:cNvPr>
            <p:cNvSpPr/>
            <p:nvPr/>
          </p:nvSpPr>
          <p:spPr>
            <a:xfrm>
              <a:off x="816461" y="3557457"/>
              <a:ext cx="2235484" cy="23461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B0AEFC-6347-45A2-BB0F-AEB92304FCC6}"/>
                </a:ext>
              </a:extLst>
            </p:cNvPr>
            <p:cNvSpPr txBox="1"/>
            <p:nvPr/>
          </p:nvSpPr>
          <p:spPr>
            <a:xfrm>
              <a:off x="1398447" y="3802441"/>
              <a:ext cx="1210589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Semantic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04234B-1F6E-4475-975E-6C82D542F3C4}"/>
                </a:ext>
              </a:extLst>
            </p:cNvPr>
            <p:cNvSpPr/>
            <p:nvPr/>
          </p:nvSpPr>
          <p:spPr>
            <a:xfrm>
              <a:off x="816461" y="4341051"/>
              <a:ext cx="250353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Similarity of the question to the source of information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7AEB19-FEE8-459C-826C-96EA68961714}"/>
                </a:ext>
              </a:extLst>
            </p:cNvPr>
            <p:cNvSpPr txBox="1"/>
            <p:nvPr/>
          </p:nvSpPr>
          <p:spPr>
            <a:xfrm>
              <a:off x="8923297" y="2110907"/>
              <a:ext cx="2031326" cy="144655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8800" dirty="0">
                  <a:solidFill>
                    <a:schemeClr val="accent1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6000" dirty="0">
                  <a:solidFill>
                    <a:schemeClr val="accent1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%</a:t>
              </a:r>
              <a:endParaRPr lang="en-US" sz="8800" dirty="0">
                <a:solidFill>
                  <a:schemeClr val="accent1"/>
                </a:solidFill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E0EB83-729C-4264-9AC9-BFE09B886769}"/>
                </a:ext>
              </a:extLst>
            </p:cNvPr>
            <p:cNvSpPr/>
            <p:nvPr/>
          </p:nvSpPr>
          <p:spPr>
            <a:xfrm>
              <a:off x="8872002" y="3557457"/>
              <a:ext cx="2235484" cy="23461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BABEC-12C0-4B3B-8FF5-4A07677D7928}"/>
                </a:ext>
              </a:extLst>
            </p:cNvPr>
            <p:cNvSpPr txBox="1"/>
            <p:nvPr/>
          </p:nvSpPr>
          <p:spPr>
            <a:xfrm>
              <a:off x="9486048" y="3802441"/>
              <a:ext cx="1146469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E7B624-343B-4A44-8D3F-80960AC9AE39}"/>
                </a:ext>
              </a:extLst>
            </p:cNvPr>
            <p:cNvSpPr/>
            <p:nvPr/>
          </p:nvSpPr>
          <p:spPr>
            <a:xfrm>
              <a:off x="8872002" y="4341051"/>
              <a:ext cx="250353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distance away from the original Seed node</a:t>
              </a:r>
            </a:p>
          </p:txBody>
        </p:sp>
      </p:grp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644616E-ABB9-466D-8082-BE4487E14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6CB2204-3475-47E4-8924-1331AE3C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05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71B2-FAA7-4DB6-BE75-3E52F479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Questions and Answers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7FDB4-B2BD-40CE-8BA2-8846E5801C51}"/>
              </a:ext>
            </a:extLst>
          </p:cNvPr>
          <p:cNvSpPr txBox="1"/>
          <p:nvPr/>
        </p:nvSpPr>
        <p:spPr>
          <a:xfrm>
            <a:off x="116377" y="1635041"/>
            <a:ext cx="3990766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user asks the program a question and it answers based on retrieved evidence.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retrieves evidence faster than humans when mass searching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Saves on AI token usage using a structured schema like CASCaRA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F2D429-8AAD-4301-BF28-EE25CAED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913334-4DD8-4C0E-8B28-97BCA7CD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F9166-2FFB-8AE9-8D03-3B7416D6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08"/>
          <a:stretch>
            <a:fillRect/>
          </a:stretch>
        </p:blipFill>
        <p:spPr>
          <a:xfrm>
            <a:off x="4988849" y="1347039"/>
            <a:ext cx="7086774" cy="421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6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C411-CDE9-402B-B86F-37E423C2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Q&amp;A With images from </a:t>
            </a:r>
            <a:r>
              <a:rPr lang="en-US" dirty="0" err="1"/>
              <a:t>Innoslate</a:t>
            </a:r>
            <a:endParaRPr lang="en-US" dirty="0"/>
          </a:p>
        </p:txBody>
      </p:sp>
      <p:sp>
        <p:nvSpPr>
          <p:cNvPr id="204" name="Footer Placeholder 203">
            <a:extLst>
              <a:ext uri="{FF2B5EF4-FFF2-40B4-BE49-F238E27FC236}">
                <a16:creationId xmlns:a16="http://schemas.microsoft.com/office/drawing/2014/main" id="{7E120C29-1FE0-41B9-8DE1-900DC958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205" name="Slide Number Placeholder 204">
            <a:extLst>
              <a:ext uri="{FF2B5EF4-FFF2-40B4-BE49-F238E27FC236}">
                <a16:creationId xmlns:a16="http://schemas.microsoft.com/office/drawing/2014/main" id="{DF327B47-B391-4EDE-B27A-D12E5872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397E-898D-5A8C-40E3-2F2C0E1BEC48}"/>
              </a:ext>
            </a:extLst>
          </p:cNvPr>
          <p:cNvSpPr txBox="1">
            <a:spLocks/>
          </p:cNvSpPr>
          <p:nvPr/>
        </p:nvSpPr>
        <p:spPr>
          <a:xfrm>
            <a:off x="152118" y="909943"/>
            <a:ext cx="3920067" cy="34263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Question :How many issues exist</a:t>
            </a:r>
            <a:br>
              <a:rPr lang="en-US" sz="1400"/>
            </a:br>
            <a:br>
              <a:rPr lang="en-US" sz="1400"/>
            </a:br>
            <a:r>
              <a:rPr lang="en-US" sz="1400"/>
              <a:t>=== AI ANSWER ===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The CASCaRA graph evidence indicates that there are **4 issues** explicitly listed as instances of the `inn:C_Issue` class. These are: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1. **Servo Motor Malfunction**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2. **Current Draw with Rover**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3. **Excavator Claw Design Doesn't Close Properly**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4. **Warping on 3D Prints**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These entities are directly associated with the `inn:C_Issue` class through structure or schema relationships, confirming their classification as issues. Other entries reference properties or enumerations of these issues but do not introduce additional distinct issues.</a:t>
            </a:r>
            <a:endParaRPr lang="en-US" sz="14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CCAF50B-A434-75DE-8094-1DCC23C35E51}"/>
              </a:ext>
            </a:extLst>
          </p:cNvPr>
          <p:cNvSpPr txBox="1"/>
          <p:nvPr/>
        </p:nvSpPr>
        <p:spPr>
          <a:xfrm>
            <a:off x="4205360" y="909943"/>
            <a:ext cx="3987800" cy="1589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400" dirty="0"/>
              <a:t>Question: what the average velocity of the rover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=== AI ANSWER ===</a:t>
            </a: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400" dirty="0"/>
              <a:t>The average velocity of the rover is **0.35 m/s** with a tolerance of ±0.05 m/s, as specified in the expected result for the "Average Velocity w/o Max Load Capacity" test case (Evidence 13). This value is directly derived from the test procedure described in the graph.</a:t>
            </a:r>
          </a:p>
        </p:txBody>
      </p:sp>
      <p:pic>
        <p:nvPicPr>
          <p:cNvPr id="208" name="Picture 207">
            <a:extLst>
              <a:ext uri="{FF2B5EF4-FFF2-40B4-BE49-F238E27FC236}">
                <a16:creationId xmlns:a16="http://schemas.microsoft.com/office/drawing/2014/main" id="{F0B1FCB6-5547-0E5B-4589-0E31EE00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0" y="5358525"/>
            <a:ext cx="3995004" cy="999650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CFA3142C-F2FB-6A57-8E76-3BAC17A19B54}"/>
              </a:ext>
            </a:extLst>
          </p:cNvPr>
          <p:cNvSpPr txBox="1"/>
          <p:nvPr/>
        </p:nvSpPr>
        <p:spPr>
          <a:xfrm>
            <a:off x="8199227" y="909943"/>
            <a:ext cx="3840655" cy="1589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400" dirty="0"/>
              <a:t>Question: what the average velocity of the rover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=== AI ANSWER ===</a:t>
            </a: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400" dirty="0"/>
              <a:t>The average velocity of the rover is **0.35 m/s** with a tolerance of ±0.05 m/s, as specified in the expected result for the "Average Velocity w/o Max Load Capacity" test case (Evidence 13). This value is directly derived from the test procedure described in the graph.</a:t>
            </a: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D543AF7C-3C34-F118-926A-487885AED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066" y="5858350"/>
            <a:ext cx="3796388" cy="906915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0772969F-100E-61D0-9A54-80E52C7D08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205" b="358"/>
          <a:stretch>
            <a:fillRect/>
          </a:stretch>
        </p:blipFill>
        <p:spPr>
          <a:xfrm>
            <a:off x="8288866" y="4234870"/>
            <a:ext cx="3618708" cy="2530395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1812C0F4-1A69-C10E-4CED-5B49EBEAB1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818"/>
          <a:stretch>
            <a:fillRect/>
          </a:stretch>
        </p:blipFill>
        <p:spPr>
          <a:xfrm>
            <a:off x="8288866" y="3511988"/>
            <a:ext cx="3618707" cy="7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66BB-DCE9-4302-BA73-2804AA8C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Slide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540A95-6C45-4750-8542-1FBF49770148}"/>
              </a:ext>
            </a:extLst>
          </p:cNvPr>
          <p:cNvGrpSpPr/>
          <p:nvPr/>
        </p:nvGrpSpPr>
        <p:grpSpPr>
          <a:xfrm>
            <a:off x="1524" y="2832519"/>
            <a:ext cx="12190477" cy="27432"/>
            <a:chOff x="0" y="3293361"/>
            <a:chExt cx="9145144" cy="27432"/>
          </a:xfrm>
          <a:solidFill>
            <a:srgbClr val="000000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25BE12-E310-440E-ADE0-D594364121EF}"/>
                </a:ext>
              </a:extLst>
            </p:cNvPr>
            <p:cNvSpPr/>
            <p:nvPr/>
          </p:nvSpPr>
          <p:spPr>
            <a:xfrm>
              <a:off x="5646689" y="3293361"/>
              <a:ext cx="3498455" cy="274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08E160-6323-4051-8520-4FAAB059D3FD}"/>
                </a:ext>
              </a:extLst>
            </p:cNvPr>
            <p:cNvSpPr/>
            <p:nvPr/>
          </p:nvSpPr>
          <p:spPr>
            <a:xfrm>
              <a:off x="0" y="3293361"/>
              <a:ext cx="3498455" cy="274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3DD4F82D-DE31-44FF-9C2A-3D8A9820D824}"/>
              </a:ext>
            </a:extLst>
          </p:cNvPr>
          <p:cNvSpPr/>
          <p:nvPr/>
        </p:nvSpPr>
        <p:spPr>
          <a:xfrm>
            <a:off x="4743450" y="1493685"/>
            <a:ext cx="2705100" cy="27051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A65432-5854-4F43-811D-2B445A8FD92E}"/>
              </a:ext>
            </a:extLst>
          </p:cNvPr>
          <p:cNvGrpSpPr/>
          <p:nvPr/>
        </p:nvGrpSpPr>
        <p:grpSpPr>
          <a:xfrm>
            <a:off x="5458376" y="1926470"/>
            <a:ext cx="1275248" cy="1845881"/>
            <a:chOff x="1396071" y="1688069"/>
            <a:chExt cx="2491363" cy="3606174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3773FEB-FC94-4636-BFEE-31C024A12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071" y="1688069"/>
              <a:ext cx="2491363" cy="2608424"/>
            </a:xfrm>
            <a:custGeom>
              <a:avLst/>
              <a:gdLst>
                <a:gd name="T0" fmla="*/ 412 w 826"/>
                <a:gd name="T1" fmla="*/ 0 h 866"/>
                <a:gd name="T2" fmla="*/ 714 w 826"/>
                <a:gd name="T3" fmla="*/ 99 h 866"/>
                <a:gd name="T4" fmla="*/ 826 w 826"/>
                <a:gd name="T5" fmla="*/ 331 h 866"/>
                <a:gd name="T6" fmla="*/ 785 w 826"/>
                <a:gd name="T7" fmla="*/ 469 h 866"/>
                <a:gd name="T8" fmla="*/ 609 w 826"/>
                <a:gd name="T9" fmla="*/ 646 h 866"/>
                <a:gd name="T10" fmla="*/ 522 w 826"/>
                <a:gd name="T11" fmla="*/ 739 h 866"/>
                <a:gd name="T12" fmla="*/ 507 w 826"/>
                <a:gd name="T13" fmla="*/ 866 h 866"/>
                <a:gd name="T14" fmla="*/ 307 w 826"/>
                <a:gd name="T15" fmla="*/ 866 h 866"/>
                <a:gd name="T16" fmla="*/ 306 w 826"/>
                <a:gd name="T17" fmla="*/ 813 h 866"/>
                <a:gd name="T18" fmla="*/ 338 w 826"/>
                <a:gd name="T19" fmla="*/ 653 h 866"/>
                <a:gd name="T20" fmla="*/ 467 w 826"/>
                <a:gd name="T21" fmla="*/ 512 h 866"/>
                <a:gd name="T22" fmla="*/ 582 w 826"/>
                <a:gd name="T23" fmla="*/ 409 h 866"/>
                <a:gd name="T24" fmla="*/ 611 w 826"/>
                <a:gd name="T25" fmla="*/ 324 h 866"/>
                <a:gd name="T26" fmla="*/ 560 w 826"/>
                <a:gd name="T27" fmla="*/ 214 h 866"/>
                <a:gd name="T28" fmla="*/ 421 w 826"/>
                <a:gd name="T29" fmla="*/ 168 h 866"/>
                <a:gd name="T30" fmla="*/ 281 w 826"/>
                <a:gd name="T31" fmla="*/ 216 h 866"/>
                <a:gd name="T32" fmla="*/ 203 w 826"/>
                <a:gd name="T33" fmla="*/ 362 h 866"/>
                <a:gd name="T34" fmla="*/ 0 w 826"/>
                <a:gd name="T35" fmla="*/ 337 h 866"/>
                <a:gd name="T36" fmla="*/ 120 w 826"/>
                <a:gd name="T37" fmla="*/ 98 h 866"/>
                <a:gd name="T38" fmla="*/ 412 w 826"/>
                <a:gd name="T39" fmla="*/ 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6" h="866">
                  <a:moveTo>
                    <a:pt x="412" y="0"/>
                  </a:moveTo>
                  <a:cubicBezTo>
                    <a:pt x="538" y="0"/>
                    <a:pt x="639" y="33"/>
                    <a:pt x="714" y="99"/>
                  </a:cubicBezTo>
                  <a:cubicBezTo>
                    <a:pt x="789" y="166"/>
                    <a:pt x="826" y="243"/>
                    <a:pt x="826" y="331"/>
                  </a:cubicBezTo>
                  <a:cubicBezTo>
                    <a:pt x="826" y="379"/>
                    <a:pt x="812" y="425"/>
                    <a:pt x="785" y="469"/>
                  </a:cubicBezTo>
                  <a:cubicBezTo>
                    <a:pt x="757" y="512"/>
                    <a:pt x="699" y="571"/>
                    <a:pt x="609" y="646"/>
                  </a:cubicBezTo>
                  <a:cubicBezTo>
                    <a:pt x="562" y="685"/>
                    <a:pt x="533" y="716"/>
                    <a:pt x="522" y="739"/>
                  </a:cubicBezTo>
                  <a:cubicBezTo>
                    <a:pt x="511" y="763"/>
                    <a:pt x="506" y="805"/>
                    <a:pt x="507" y="866"/>
                  </a:cubicBezTo>
                  <a:cubicBezTo>
                    <a:pt x="307" y="866"/>
                    <a:pt x="307" y="866"/>
                    <a:pt x="307" y="866"/>
                  </a:cubicBezTo>
                  <a:cubicBezTo>
                    <a:pt x="306" y="837"/>
                    <a:pt x="306" y="819"/>
                    <a:pt x="306" y="813"/>
                  </a:cubicBezTo>
                  <a:cubicBezTo>
                    <a:pt x="306" y="748"/>
                    <a:pt x="316" y="695"/>
                    <a:pt x="338" y="653"/>
                  </a:cubicBezTo>
                  <a:cubicBezTo>
                    <a:pt x="359" y="611"/>
                    <a:pt x="402" y="564"/>
                    <a:pt x="467" y="512"/>
                  </a:cubicBezTo>
                  <a:cubicBezTo>
                    <a:pt x="531" y="459"/>
                    <a:pt x="569" y="425"/>
                    <a:pt x="582" y="409"/>
                  </a:cubicBezTo>
                  <a:cubicBezTo>
                    <a:pt x="601" y="383"/>
                    <a:pt x="611" y="355"/>
                    <a:pt x="611" y="324"/>
                  </a:cubicBezTo>
                  <a:cubicBezTo>
                    <a:pt x="611" y="281"/>
                    <a:pt x="594" y="245"/>
                    <a:pt x="560" y="214"/>
                  </a:cubicBezTo>
                  <a:cubicBezTo>
                    <a:pt x="525" y="183"/>
                    <a:pt x="479" y="168"/>
                    <a:pt x="421" y="168"/>
                  </a:cubicBezTo>
                  <a:cubicBezTo>
                    <a:pt x="365" y="168"/>
                    <a:pt x="318" y="184"/>
                    <a:pt x="281" y="216"/>
                  </a:cubicBezTo>
                  <a:cubicBezTo>
                    <a:pt x="243" y="248"/>
                    <a:pt x="217" y="297"/>
                    <a:pt x="203" y="362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6" y="243"/>
                    <a:pt x="46" y="164"/>
                    <a:pt x="120" y="98"/>
                  </a:cubicBezTo>
                  <a:cubicBezTo>
                    <a:pt x="194" y="33"/>
                    <a:pt x="291" y="0"/>
                    <a:pt x="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algn="ctr" rotWithShape="0">
                <a:prstClr val="black">
                  <a:alpha val="27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B2F9E9F6-1503-4812-B5FD-C698F24D7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814" y="4568644"/>
              <a:ext cx="622203" cy="725599"/>
            </a:xfrm>
            <a:custGeom>
              <a:avLst/>
              <a:gdLst>
                <a:gd name="T0" fmla="*/ 0 w 524"/>
                <a:gd name="T1" fmla="*/ 0 h 521"/>
                <a:gd name="T2" fmla="*/ 524 w 524"/>
                <a:gd name="T3" fmla="*/ 0 h 521"/>
                <a:gd name="T4" fmla="*/ 524 w 524"/>
                <a:gd name="T5" fmla="*/ 521 h 521"/>
                <a:gd name="T6" fmla="*/ 0 w 524"/>
                <a:gd name="T7" fmla="*/ 521 h 521"/>
                <a:gd name="T8" fmla="*/ 0 w 524"/>
                <a:gd name="T9" fmla="*/ 0 h 521"/>
                <a:gd name="T10" fmla="*/ 0 w 524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4" h="521">
                  <a:moveTo>
                    <a:pt x="0" y="0"/>
                  </a:moveTo>
                  <a:lnTo>
                    <a:pt x="524" y="0"/>
                  </a:lnTo>
                  <a:lnTo>
                    <a:pt x="524" y="521"/>
                  </a:lnTo>
                  <a:lnTo>
                    <a:pt x="0" y="5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algn="ctr" rotWithShape="0">
                <a:prstClr val="black">
                  <a:alpha val="27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B9D3B-2EC6-4AA4-A087-6C418B9F2F65}"/>
              </a:ext>
            </a:extLst>
          </p:cNvPr>
          <p:cNvSpPr/>
          <p:nvPr/>
        </p:nvSpPr>
        <p:spPr>
          <a:xfrm>
            <a:off x="2904378" y="4685402"/>
            <a:ext cx="6383245" cy="10156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Questions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8055C-179C-491B-84CA-7958BF2B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Prime Solutions Group, Incorporated 2021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44A466-8BD2-4798-9E48-0E1F1C0B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765D-D0B6-4100-962D-18056C19E04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6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7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2537E"/>
      </a:accent1>
      <a:accent2>
        <a:srgbClr val="3459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C318FE9FDA26439F04D3F6FCA75311" ma:contentTypeVersion="13" ma:contentTypeDescription="Create a new document." ma:contentTypeScope="" ma:versionID="ed83f325bc40196c2a324e674a725054">
  <xsd:schema xmlns:xsd="http://www.w3.org/2001/XMLSchema" xmlns:xs="http://www.w3.org/2001/XMLSchema" xmlns:p="http://schemas.microsoft.com/office/2006/metadata/properties" xmlns:ns2="5a5636cf-4c25-4b3c-8ad3-be0dea164d8c" xmlns:ns3="56bb2729-8e91-4cf9-9c52-dde53432fa95" targetNamespace="http://schemas.microsoft.com/office/2006/metadata/properties" ma:root="true" ma:fieldsID="690c596733c1186f960407e1cde204bc" ns2:_="" ns3:_="">
    <xsd:import namespace="5a5636cf-4c25-4b3c-8ad3-be0dea164d8c"/>
    <xsd:import namespace="56bb2729-8e91-4cf9-9c52-dde53432fa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5636cf-4c25-4b3c-8ad3-be0dea164d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07610b9-a0a0-46d6-80c8-a2c4caf0f0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b2729-8e91-4cf9-9c52-dde53432fa9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0aaa7bb-6b1f-4ab3-b2a4-4dd3a8853a3b}" ma:internalName="TaxCatchAll" ma:showField="CatchAllData" ma:web="56bb2729-8e91-4cf9-9c52-dde53432fa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5636cf-4c25-4b3c-8ad3-be0dea164d8c">
      <Terms xmlns="http://schemas.microsoft.com/office/infopath/2007/PartnerControls"/>
    </lcf76f155ced4ddcb4097134ff3c332f>
    <TaxCatchAll xmlns="56bb2729-8e91-4cf9-9c52-dde53432fa95" xsi:nil="true"/>
  </documentManagement>
</p:properties>
</file>

<file path=customXml/itemProps1.xml><?xml version="1.0" encoding="utf-8"?>
<ds:datastoreItem xmlns:ds="http://schemas.openxmlformats.org/officeDocument/2006/customXml" ds:itemID="{01C17DB3-E29D-46C7-A751-09E991FBC4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5636cf-4c25-4b3c-8ad3-be0dea164d8c"/>
    <ds:schemaRef ds:uri="56bb2729-8e91-4cf9-9c52-dde53432fa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C88D6B-AB82-46BB-B099-ED60F31C95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D3FF7A-8ECB-4F95-BCAE-5BA37D821EBC}">
  <ds:schemaRefs>
    <ds:schemaRef ds:uri="http://schemas.microsoft.com/office/2006/metadata/properties"/>
    <ds:schemaRef ds:uri="http://schemas.microsoft.com/office/infopath/2007/PartnerControls"/>
    <ds:schemaRef ds:uri="5a5636cf-4c25-4b3c-8ad3-be0dea164d8c"/>
    <ds:schemaRef ds:uri="56bb2729-8e91-4cf9-9c52-dde53432fa9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516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Office Theme</vt:lpstr>
      <vt:lpstr>CASCaRA  Graph RAG Demo</vt:lpstr>
      <vt:lpstr>Team Introductions </vt:lpstr>
      <vt:lpstr>The Demo’s architecture </vt:lpstr>
      <vt:lpstr>Vector search / graph hop hybrid</vt:lpstr>
      <vt:lpstr>Scoring evidence</vt:lpstr>
      <vt:lpstr>Enhanced Questions and Answers</vt:lpstr>
      <vt:lpstr>Additional Q&amp;A With images from Innoslate</vt:lpstr>
      <vt:lpstr>Question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pc13</dc:creator>
  <cp:lastModifiedBy>Todd Kleber</cp:lastModifiedBy>
  <cp:revision>193</cp:revision>
  <dcterms:created xsi:type="dcterms:W3CDTF">2021-07-09T04:35:13Z</dcterms:created>
  <dcterms:modified xsi:type="dcterms:W3CDTF">2026-10-20T20:27:38Z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368f0da-afd7-4923-b4cb-be8beaa51e62_Enabled">
    <vt:lpwstr>true</vt:lpwstr>
  </property>
  <property fmtid="{D5CDD505-2E9C-101B-9397-08002B2CF9AE}" pid="3" name="MSIP_Label_a368f0da-afd7-4923-b4cb-be8beaa51e62_SetDate">
    <vt:lpwstr>2021-07-13T13:00:00Z</vt:lpwstr>
  </property>
  <property fmtid="{D5CDD505-2E9C-101B-9397-08002B2CF9AE}" pid="4" name="MSIP_Label_a368f0da-afd7-4923-b4cb-be8beaa51e62_Method">
    <vt:lpwstr>Standard</vt:lpwstr>
  </property>
  <property fmtid="{D5CDD505-2E9C-101B-9397-08002B2CF9AE}" pid="5" name="MSIP_Label_a368f0da-afd7-4923-b4cb-be8beaa51e62_Name">
    <vt:lpwstr>Unrestricted</vt:lpwstr>
  </property>
  <property fmtid="{D5CDD505-2E9C-101B-9397-08002B2CF9AE}" pid="6" name="MSIP_Label_a368f0da-afd7-4923-b4cb-be8beaa51e62_SiteId">
    <vt:lpwstr>a6aef897-af05-47fa-b626-78c18139870c</vt:lpwstr>
  </property>
  <property fmtid="{D5CDD505-2E9C-101B-9397-08002B2CF9AE}" pid="7" name="MSIP_Label_a368f0da-afd7-4923-b4cb-be8beaa51e62_ActionId">
    <vt:lpwstr>e1be88e2-0d2f-4413-be02-905411a2c579</vt:lpwstr>
  </property>
  <property fmtid="{D5CDD505-2E9C-101B-9397-08002B2CF9AE}" pid="8" name="MSIP_Label_a368f0da-afd7-4923-b4cb-be8beaa51e62_ContentBits">
    <vt:lpwstr>0</vt:lpwstr>
  </property>
  <property fmtid="{D5CDD505-2E9C-101B-9397-08002B2CF9AE}" pid="9" name="ContentTypeId">
    <vt:lpwstr>0x010100C8C318FE9FDA26439F04D3F6FCA75311</vt:lpwstr>
  </property>
  <property fmtid="{D5CDD505-2E9C-101B-9397-08002B2CF9AE}" pid="10" name="MediaServiceImageTags">
    <vt:lpwstr/>
  </property>
</Properties>
</file>